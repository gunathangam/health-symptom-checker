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90" r:id="rId2"/>
    <p:sldId id="291" r:id="rId3"/>
    <p:sldId id="292" r:id="rId4"/>
    <p:sldId id="293" r:id="rId5"/>
    <p:sldId id="294" r:id="rId6"/>
    <p:sldId id="295" r:id="rId7"/>
    <p:sldId id="296" r:id="rId8"/>
    <p:sldId id="298" r:id="rId9"/>
    <p:sldId id="299" r:id="rId10"/>
    <p:sldId id="300" r:id="rId11"/>
    <p:sldId id="301" r:id="rId12"/>
    <p:sldId id="302" r:id="rId13"/>
    <p:sldId id="303" r:id="rId14"/>
    <p:sldId id="304" r:id="rId15"/>
    <p:sldId id="305" r:id="rId16"/>
    <p:sldId id="306" r:id="rId17"/>
    <p:sldId id="307" r:id="rId18"/>
    <p:sldId id="308" r:id="rId19"/>
    <p:sldId id="309"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IBM Bob”</a:t>
            </a:r>
            <a:endParaRPr lang="en-IN"/>
          </a:p>
        </p:txBody>
      </p:sp>
    </p:spTree>
    <p:extLst>
      <p:ext uri="{BB962C8B-B14F-4D97-AF65-F5344CB8AC3E}">
        <p14:creationId xmlns:p14="http://schemas.microsoft.com/office/powerpoint/2010/main" val="38285595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035179801"/>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a:t>GUNATHANGAM R</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gunathangamr@gmail.com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a:t>9363130530</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Healthcare</a:t>
            </a:r>
            <a:endParaRPr lang="en-IN" sz="2400" b="1" dirty="0"/>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dirty="0"/>
              <a:t>Agentic AI Health Symptom Checker</a:t>
            </a:r>
            <a:endParaRPr lang="en-IN" sz="2400" b="1" dirty="0">
              <a:highlight>
                <a:srgbClr val="FFFF00"/>
              </a:highlight>
            </a:endParaRPr>
          </a:p>
        </p:txBody>
      </p:sp>
      <p:pic>
        <p:nvPicPr>
          <p:cNvPr id="5" name="Picture 4">
            <a:extLst>
              <a:ext uri="{FF2B5EF4-FFF2-40B4-BE49-F238E27FC236}">
                <a16:creationId xmlns:a16="http://schemas.microsoft.com/office/drawing/2014/main" id="{4DB27924-5CF6-1520-74F0-073C4FAF5AA9}"/>
              </a:ext>
            </a:extLst>
          </p:cNvPr>
          <p:cNvPicPr>
            <a:picLocks noChangeAspect="1"/>
          </p:cNvPicPr>
          <p:nvPr/>
        </p:nvPicPr>
        <p:blipFill>
          <a:blip r:embed="rId3"/>
          <a:stretch>
            <a:fillRect/>
          </a:stretch>
        </p:blipFill>
        <p:spPr>
          <a:xfrm>
            <a:off x="4075708" y="3554834"/>
            <a:ext cx="911001" cy="1174639"/>
          </a:xfrm>
          <a:prstGeom prst="rect">
            <a:avLst/>
          </a:prstGeom>
        </p:spPr>
      </p:pic>
    </p:spTree>
    <p:extLst>
      <p:ext uri="{BB962C8B-B14F-4D97-AF65-F5344CB8AC3E}">
        <p14:creationId xmlns:p14="http://schemas.microsoft.com/office/powerpoint/2010/main" val="9523178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r>
              <a:rPr lang="en-US" b="1" dirty="0"/>
              <a:t>Problem Statement : Agentic AI Health Symptom Checker</a:t>
            </a:r>
          </a:p>
          <a:p>
            <a:pPr fontAlgn="base"/>
            <a:endParaRPr lang="en-US" b="1" dirty="0"/>
          </a:p>
          <a:p>
            <a:pPr fontAlgn="base"/>
            <a:r>
              <a:rPr lang="en-US" b="1" dirty="0"/>
              <a:t>The Challenge</a:t>
            </a:r>
            <a:r>
              <a:rPr lang="en-US" dirty="0"/>
              <a:t> </a:t>
            </a:r>
          </a:p>
          <a:p>
            <a:pPr fontAlgn="base"/>
            <a:r>
              <a:rPr lang="en-US" dirty="0"/>
              <a:t>People often experience common symptoms but struggle to understand their possible causes, severity, and appropriate care. Health information is scattered across unreliable websites, social media, and conflicting sources. Without personalized, reliable guidance, users may misunderstand symptoms, follow unsafe remedies, delay medical attention, or attempt self-diagnosis.</a:t>
            </a:r>
          </a:p>
          <a:p>
            <a:pPr fontAlgn="base"/>
            <a:endParaRPr lang="en-US" dirty="0"/>
          </a:p>
          <a:p>
            <a:pPr fontAlgn="base"/>
            <a:r>
              <a:rPr lang="en-US" b="1" dirty="0"/>
              <a:t>The Objective</a:t>
            </a:r>
            <a:r>
              <a:rPr lang="en-US" dirty="0"/>
              <a:t> </a:t>
            </a:r>
          </a:p>
          <a:p>
            <a:r>
              <a:rPr lang="en-US" dirty="0"/>
              <a:t>Build an </a:t>
            </a:r>
            <a:r>
              <a:rPr lang="en-US" b="1" dirty="0"/>
              <a:t>AI-powered Health Symptom Checker</a:t>
            </a:r>
            <a:r>
              <a:rPr lang="en-US" dirty="0"/>
              <a:t> that delivers reliable, personalized, and educational health guidance for users. The solution should:</a:t>
            </a:r>
          </a:p>
          <a:p>
            <a:r>
              <a:rPr lang="en-US" b="1" dirty="0"/>
              <a:t>Symptom Analysis</a:t>
            </a:r>
            <a:r>
              <a:rPr lang="en-US" dirty="0"/>
              <a:t> – Understand symptoms entered naturally through text and identify relevant health information.</a:t>
            </a:r>
          </a:p>
          <a:p>
            <a:r>
              <a:rPr lang="en-US" b="1" dirty="0"/>
              <a:t>Medical Data RAG Retrieval</a:t>
            </a:r>
            <a:r>
              <a:rPr lang="en-US" dirty="0"/>
              <a:t> – Fetch and summarize medical information from trusted sources such as WHO, government health portals, medical journals, and verified symptom databases.</a:t>
            </a:r>
          </a:p>
          <a:p>
            <a:r>
              <a:rPr lang="en-US" b="1" dirty="0"/>
              <a:t>Probable Condition Identification</a:t>
            </a:r>
            <a:r>
              <a:rPr lang="en-US" dirty="0"/>
              <a:t> – Provide possible conditions associated with symptoms without claiming a definitive diagnosis.</a:t>
            </a:r>
          </a:p>
          <a:p>
            <a:r>
              <a:rPr lang="en-US" b="1" dirty="0"/>
              <a:t>Risk &amp; Urgency Assessment</a:t>
            </a:r>
            <a:r>
              <a:rPr lang="en-US" dirty="0"/>
              <a:t> – Identify warning signs and recommend appropriate levels of care.</a:t>
            </a:r>
          </a:p>
          <a:p>
            <a:r>
              <a:rPr lang="en-US" b="1" dirty="0"/>
              <a:t>Multi-Agent System</a:t>
            </a:r>
            <a:r>
              <a:rPr lang="en-US" dirty="0"/>
              <a:t> –</a:t>
            </a:r>
          </a:p>
          <a:p>
            <a:r>
              <a:rPr lang="en-US" b="1" dirty="0"/>
              <a:t>Symptom Analysis Agent</a:t>
            </a:r>
            <a:r>
              <a:rPr lang="en-US" dirty="0"/>
              <a:t> (analyzes user symptoms)</a:t>
            </a:r>
          </a:p>
          <a:p>
            <a:r>
              <a:rPr lang="en-US" b="1" dirty="0"/>
              <a:t>Medical Knowledge Agent</a:t>
            </a:r>
            <a:r>
              <a:rPr lang="en-US" dirty="0"/>
              <a:t> (retrieves verified medical information)</a:t>
            </a:r>
          </a:p>
          <a:p>
            <a:r>
              <a:rPr lang="en-US" b="1" dirty="0"/>
              <a:t>Risk &amp; Triage Agent</a:t>
            </a:r>
            <a:r>
              <a:rPr lang="en-US" dirty="0"/>
              <a:t> (assesses urgency and warning signs)</a:t>
            </a:r>
          </a:p>
          <a:p>
            <a:r>
              <a:rPr lang="en-US" b="1" dirty="0"/>
              <a:t>Health Advisory Agent</a:t>
            </a:r>
            <a:r>
              <a:rPr lang="en-US" dirty="0"/>
              <a:t> (provides preventive advice and care recommendations)</a:t>
            </a:r>
          </a:p>
          <a:p>
            <a:r>
              <a:rPr lang="en-US" b="1" dirty="0"/>
              <a:t>Multi-Language Support</a:t>
            </a:r>
            <a:r>
              <a:rPr lang="en-US" dirty="0"/>
              <a:t> – Allow users to interact with the system in multiple languages.</a:t>
            </a:r>
          </a:p>
          <a:p>
            <a:pPr fontAlgn="base"/>
            <a:endParaRPr lang="en-US" dirty="0"/>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616533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539240"/>
            <a:ext cx="10607040" cy="4185761"/>
          </a:xfrm>
          <a:prstGeom prst="rect">
            <a:avLst/>
          </a:prstGeom>
          <a:noFill/>
        </p:spPr>
        <p:txBody>
          <a:bodyPr wrap="square" rtlCol="0">
            <a:spAutoFit/>
          </a:bodyPr>
          <a:lstStyle/>
          <a:p>
            <a:r>
              <a:rPr lang="en-US" b="1" dirty="0"/>
              <a:t>Proposed Solution: Agentic AI Health Symptom Checker</a:t>
            </a:r>
          </a:p>
          <a:p>
            <a:r>
              <a:rPr lang="en-US" dirty="0"/>
              <a:t>The proposed solution is a multi-agent AI-powered </a:t>
            </a:r>
            <a:r>
              <a:rPr lang="en-US" b="1" dirty="0"/>
              <a:t>Health Symptom Checker</a:t>
            </a:r>
            <a:r>
              <a:rPr lang="en-US" dirty="0"/>
              <a:t> built using </a:t>
            </a:r>
            <a:r>
              <a:rPr lang="en-US" b="1" dirty="0"/>
              <a:t>IBM Bob, IBM watsonx.ai, and IBM Granite Models</a:t>
            </a:r>
            <a:r>
              <a:rPr lang="en-US" dirty="0"/>
              <a:t> to provide reliable, real-time health information and care guidance. The system addresses challenges in symptom understanding, medical information retrieval, risk assessment, and preventive healthcare through an intelligent, modular architecture.</a:t>
            </a:r>
          </a:p>
          <a:p>
            <a:r>
              <a:rPr lang="en-US" dirty="0"/>
              <a:t>At its core, the solution uses a </a:t>
            </a:r>
            <a:r>
              <a:rPr lang="en-US" b="1" dirty="0"/>
              <a:t>Retrieval-Augmented Generation (RAG)</a:t>
            </a:r>
            <a:r>
              <a:rPr lang="en-US" dirty="0"/>
              <a:t> pipeline to fetch relevant medical information from trusted sources such as WHO, government health portals, verified symptom databases, and medical journals. This information is embedded and stored in a vector database, enabling the system to retrieve and summarize relevant medical knowledge using Granite models.</a:t>
            </a:r>
          </a:p>
          <a:p>
            <a:r>
              <a:rPr lang="en-US" dirty="0"/>
              <a:t>The system consists of four key agents:</a:t>
            </a:r>
          </a:p>
          <a:p>
            <a:r>
              <a:rPr lang="en-US" b="1" dirty="0"/>
              <a:t>Symptom Analysis Agent</a:t>
            </a:r>
            <a:r>
              <a:rPr lang="en-US" dirty="0"/>
              <a:t> analyzes and extracts symptoms from natural-language user inputs.</a:t>
            </a:r>
          </a:p>
          <a:p>
            <a:r>
              <a:rPr lang="en-US" b="1" dirty="0"/>
              <a:t>Medical Knowledge Agent</a:t>
            </a:r>
            <a:r>
              <a:rPr lang="en-US" dirty="0"/>
              <a:t> retrieves and summarizes relevant medical information using RAG.</a:t>
            </a:r>
          </a:p>
          <a:p>
            <a:r>
              <a:rPr lang="en-US" b="1" dirty="0"/>
              <a:t>Risk &amp; Triage Agent</a:t>
            </a:r>
            <a:r>
              <a:rPr lang="en-US" dirty="0"/>
              <a:t> evaluates symptoms, identifies warning signs, and determines the appropriate urgency level.</a:t>
            </a:r>
          </a:p>
          <a:p>
            <a:r>
              <a:rPr lang="en-US" b="1" dirty="0"/>
              <a:t>Health Advisory Agent</a:t>
            </a:r>
            <a:r>
              <a:rPr lang="en-US" dirty="0"/>
              <a:t> provides preventive suggestions, general care guidance, and recommendations for consulting healthcare professionals.</a:t>
            </a:r>
          </a:p>
          <a:p>
            <a:r>
              <a:rPr lang="en-US" dirty="0"/>
              <a:t>The solution includes a user-friendly interface where users can enter symptoms and receive possible conditions, urgency information, preventive guidance, and appropriate care recommendations.</a:t>
            </a:r>
          </a:p>
          <a:p>
            <a:r>
              <a:rPr lang="en-US" dirty="0"/>
              <a:t>IBM Bob is used to orchestrate agent workflows, while watsonx.ai supports model deployment, embeddings, and AI governance. Granite models power reasoning, summarization, and contextual response generation.</a:t>
            </a:r>
          </a:p>
          <a:p>
            <a:r>
              <a:rPr lang="en-US" dirty="0"/>
              <a:t>Overall, this solution delivers an end-to-end intelligent health assistant that promotes early awareness, reduces misinformation, and encourages appropriate medical care.</a:t>
            </a:r>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619459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247317"/>
          </a:xfrm>
          <a:prstGeom prst="rect">
            <a:avLst/>
          </a:prstGeom>
          <a:noFill/>
        </p:spPr>
        <p:txBody>
          <a:bodyPr wrap="square" rtlCol="0">
            <a:spAutoFit/>
          </a:bodyPr>
          <a:lstStyle/>
          <a:p>
            <a:r>
              <a:rPr lang="en-US" sz="1800" b="1" dirty="0"/>
              <a:t>IBM Bob platform</a:t>
            </a:r>
            <a:r>
              <a:rPr lang="en-US" sz="1800" dirty="0"/>
              <a:t> – For designing and orchestrating multi-agent workflows visually.</a:t>
            </a:r>
          </a:p>
          <a:p>
            <a:endParaRPr lang="en-US" sz="1800" dirty="0"/>
          </a:p>
          <a:p>
            <a:r>
              <a:rPr lang="en-US" sz="1800" b="1" dirty="0"/>
              <a:t>IBM Granite model</a:t>
            </a:r>
            <a:r>
              <a:rPr lang="en-US" sz="1800" dirty="0"/>
              <a:t> – For natural language understanding, reasoning, summarization, and generating context-aware health responses.</a:t>
            </a:r>
          </a:p>
          <a:p>
            <a:endParaRPr lang="en-US" sz="1800" dirty="0"/>
          </a:p>
          <a:p>
            <a:r>
              <a:rPr lang="en-US" sz="1800" b="1" dirty="0"/>
              <a:t>IBM Cloud</a:t>
            </a:r>
            <a:r>
              <a:rPr lang="en-US" sz="1800" dirty="0"/>
              <a:t> – It provides the infrastructure to build, deploy, and scale the Health Symptom Checker efficiently. IBM Cloud enables a reliable, secure, and scalable environment for deploying the application.</a:t>
            </a:r>
          </a:p>
          <a:p>
            <a:endParaRPr lang="en-US" sz="1800" dirty="0"/>
          </a:p>
          <a:p>
            <a:r>
              <a:rPr lang="en-US" sz="1800" b="1" dirty="0"/>
              <a:t>RAG</a:t>
            </a:r>
            <a:r>
              <a:rPr lang="en-US" sz="1800" dirty="0"/>
              <a:t> – RAG retrieves verified medical information first, then generates intelligent answers, making the Health Symptom Checker more trustworthy and effective.</a:t>
            </a:r>
          </a:p>
          <a:p>
            <a:endParaRPr lang="en-US" sz="1800" dirty="0"/>
          </a:p>
          <a:p>
            <a:r>
              <a:rPr lang="en-US" sz="1800" b="1" dirty="0"/>
              <a:t>IBM watsonx.ai</a:t>
            </a:r>
            <a:r>
              <a:rPr lang="en-US" sz="1800" dirty="0"/>
              <a:t> – For model deployment, embeddings, and AI governance.</a:t>
            </a:r>
          </a:p>
          <a:p>
            <a:endParaRPr lang="en-US" sz="1800" dirty="0"/>
          </a:p>
          <a:p>
            <a:r>
              <a:rPr lang="en-US" sz="1800" b="1" dirty="0"/>
              <a:t>Vector Database (FAISS/Chroma)</a:t>
            </a:r>
            <a:r>
              <a:rPr lang="en-US" sz="1800" dirty="0"/>
              <a:t> – For RAG-based medical knowledge retrieval.</a:t>
            </a:r>
          </a:p>
        </p:txBody>
      </p:sp>
    </p:spTree>
    <p:extLst>
      <p:ext uri="{BB962C8B-B14F-4D97-AF65-F5344CB8AC3E}">
        <p14:creationId xmlns:p14="http://schemas.microsoft.com/office/powerpoint/2010/main" val="443603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a:sym typeface="Times New Roman"/>
              </a:rPr>
              <a:t>Required Files created using IBM bob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9" name="Rectangle 8">
            <a:extLst>
              <a:ext uri="{FF2B5EF4-FFF2-40B4-BE49-F238E27FC236}">
                <a16:creationId xmlns:a16="http://schemas.microsoft.com/office/drawing/2014/main" id="{6FFF7BC6-93D0-8D42-34B7-C226B1B96C2D}"/>
              </a:ext>
            </a:extLst>
          </p:cNvPr>
          <p:cNvSpPr/>
          <p:nvPr/>
        </p:nvSpPr>
        <p:spPr>
          <a:xfrm>
            <a:off x="4250700" y="2029968"/>
            <a:ext cx="5908284" cy="317232"/>
          </a:xfrm>
          <a:prstGeom prst="rect">
            <a:avLst/>
          </a:prstGeom>
          <a:solidFill>
            <a:srgbClr val="E71224">
              <a:alpha val="5000"/>
            </a:srgbClr>
          </a:solidFill>
          <a:ln w="72000">
            <a:solidFill>
              <a:srgbClr val="E7122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E71224"/>
              </a:solidFill>
            </a:endParaRPr>
          </a:p>
        </p:txBody>
      </p:sp>
      <p:sp>
        <p:nvSpPr>
          <p:cNvPr id="10" name="Arrow: Right 9">
            <a:extLst>
              <a:ext uri="{FF2B5EF4-FFF2-40B4-BE49-F238E27FC236}">
                <a16:creationId xmlns:a16="http://schemas.microsoft.com/office/drawing/2014/main" id="{A6C81E80-ED7B-4240-A8EE-0221D9ACD900}"/>
              </a:ext>
            </a:extLst>
          </p:cNvPr>
          <p:cNvSpPr/>
          <p:nvPr/>
        </p:nvSpPr>
        <p:spPr>
          <a:xfrm rot="8280234">
            <a:off x="7719727" y="1520573"/>
            <a:ext cx="923544" cy="33832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4" name="Picture 3">
            <a:extLst>
              <a:ext uri="{FF2B5EF4-FFF2-40B4-BE49-F238E27FC236}">
                <a16:creationId xmlns:a16="http://schemas.microsoft.com/office/drawing/2014/main" id="{21ABCC86-8B98-2914-E586-AFB52A50E80D}"/>
              </a:ext>
            </a:extLst>
          </p:cNvPr>
          <p:cNvPicPr>
            <a:picLocks noChangeAspect="1"/>
          </p:cNvPicPr>
          <p:nvPr/>
        </p:nvPicPr>
        <p:blipFill>
          <a:blip r:embed="rId3"/>
          <a:stretch>
            <a:fillRect/>
          </a:stretch>
        </p:blipFill>
        <p:spPr>
          <a:xfrm>
            <a:off x="1504335" y="953728"/>
            <a:ext cx="9448800" cy="5565449"/>
          </a:xfrm>
          <a:prstGeom prst="rect">
            <a:avLst/>
          </a:prstGeom>
        </p:spPr>
      </p:pic>
    </p:spTree>
    <p:extLst>
      <p:ext uri="{BB962C8B-B14F-4D97-AF65-F5344CB8AC3E}">
        <p14:creationId xmlns:p14="http://schemas.microsoft.com/office/powerpoint/2010/main" val="3114963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a:solidFill>
                  <a:srgbClr val="051D3A"/>
                </a:solidFill>
                <a:latin typeface="Times New Roman"/>
                <a:ea typeface="Times New Roman"/>
                <a:cs typeface="Times New Roman"/>
                <a:sym typeface="Times New Roman"/>
              </a:rPr>
              <a:t> </a:t>
            </a:r>
            <a:r>
              <a:rPr lang="en-US" sz="2400" b="1" i="0" u="none" strike="noStrike" cap="none">
                <a:solidFill>
                  <a:srgbClr val="051D3A"/>
                </a:solidFill>
                <a:latin typeface="Times New Roman"/>
                <a:ea typeface="Times New Roman"/>
                <a:cs typeface="Times New Roman"/>
                <a:sym typeface="Times New Roman"/>
              </a:rPr>
              <a:t>IBM Bob Screenshots:</a:t>
            </a:r>
            <a:endParaRPr sz="2400" b="1">
              <a:sym typeface="Times New Roman"/>
            </a:endParaRPr>
          </a:p>
        </p:txBody>
      </p:sp>
      <p:sp>
        <p:nvSpPr>
          <p:cNvPr id="6" name="Rectangle 5">
            <a:extLst>
              <a:ext uri="{FF2B5EF4-FFF2-40B4-BE49-F238E27FC236}">
                <a16:creationId xmlns:a16="http://schemas.microsoft.com/office/drawing/2014/main" id="{115B1B37-A0EE-2FB0-AE15-D3AFB88ECEC7}"/>
              </a:ext>
            </a:extLst>
          </p:cNvPr>
          <p:cNvSpPr/>
          <p:nvPr/>
        </p:nvSpPr>
        <p:spPr>
          <a:xfrm>
            <a:off x="609600" y="963561"/>
            <a:ext cx="511278" cy="44850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B4309063-1420-2CE2-CA3A-0FD1C388369D}"/>
              </a:ext>
            </a:extLst>
          </p:cNvPr>
          <p:cNvPicPr>
            <a:picLocks noChangeAspect="1"/>
          </p:cNvPicPr>
          <p:nvPr/>
        </p:nvPicPr>
        <p:blipFill>
          <a:blip r:embed="rId3"/>
          <a:stretch>
            <a:fillRect/>
          </a:stretch>
        </p:blipFill>
        <p:spPr>
          <a:xfrm>
            <a:off x="727587" y="1107269"/>
            <a:ext cx="9930581" cy="5263156"/>
          </a:xfrm>
          <a:prstGeom prst="rect">
            <a:avLst/>
          </a:prstGeom>
        </p:spPr>
      </p:pic>
    </p:spTree>
    <p:extLst>
      <p:ext uri="{BB962C8B-B14F-4D97-AF65-F5344CB8AC3E}">
        <p14:creationId xmlns:p14="http://schemas.microsoft.com/office/powerpoint/2010/main" val="13165455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 for IBM bob:</a:t>
            </a:r>
            <a:endParaRPr lang="en-US" sz="2400"/>
          </a:p>
        </p:txBody>
      </p:sp>
      <p:pic>
        <p:nvPicPr>
          <p:cNvPr id="5" name="Picture 4">
            <a:extLst>
              <a:ext uri="{FF2B5EF4-FFF2-40B4-BE49-F238E27FC236}">
                <a16:creationId xmlns:a16="http://schemas.microsoft.com/office/drawing/2014/main" id="{860C9598-C289-C462-3B62-F5016BBD5381}"/>
              </a:ext>
            </a:extLst>
          </p:cNvPr>
          <p:cNvPicPr>
            <a:picLocks noChangeAspect="1"/>
          </p:cNvPicPr>
          <p:nvPr/>
        </p:nvPicPr>
        <p:blipFill>
          <a:blip r:embed="rId3"/>
          <a:stretch>
            <a:fillRect/>
          </a:stretch>
        </p:blipFill>
        <p:spPr>
          <a:xfrm>
            <a:off x="1219200" y="766762"/>
            <a:ext cx="9753600" cy="5324475"/>
          </a:xfrm>
          <a:prstGeom prst="rect">
            <a:avLst/>
          </a:prstGeom>
        </p:spPr>
      </p:pic>
    </p:spTree>
    <p:extLst>
      <p:ext uri="{BB962C8B-B14F-4D97-AF65-F5344CB8AC3E}">
        <p14:creationId xmlns:p14="http://schemas.microsoft.com/office/powerpoint/2010/main" val="4451951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401205"/>
          </a:xfrm>
          <a:prstGeom prst="rect">
            <a:avLst/>
          </a:prstGeom>
          <a:noFill/>
        </p:spPr>
        <p:txBody>
          <a:bodyPr wrap="square" rtlCol="0">
            <a:spAutoFit/>
          </a:bodyPr>
          <a:lstStyle/>
          <a:p>
            <a:pPr algn="just"/>
            <a:r>
              <a:rPr lang="en-US" dirty="0"/>
              <a:t>Agentic AI enables the Health Symptom Checker to function as an intelligent, autonomous system rather than a simple chatbot. Using IBM watsonx.ai and IBM Granite models, it coordinates multiple specialized agents to analyze symptoms, retrieve medical information, assess risks, and provide appropriate health guidance.</a:t>
            </a:r>
          </a:p>
          <a:p>
            <a:pPr algn="just"/>
            <a:endParaRPr lang="en-US" dirty="0"/>
          </a:p>
          <a:p>
            <a:pPr algn="just"/>
            <a:r>
              <a:rPr lang="en-US" dirty="0"/>
              <a:t>Each agent performs a specific role—such as analyzing symptoms, retrieving medical knowledge, assessing urgency, and providing health advice—while working collaboratively. This multi-agent approach ensures efficient task execution and context-aware responses.</a:t>
            </a:r>
          </a:p>
          <a:p>
            <a:pPr algn="just"/>
            <a:endParaRPr lang="en-US" dirty="0"/>
          </a:p>
          <a:p>
            <a:pPr algn="just"/>
            <a:r>
              <a:rPr lang="en-US" dirty="0"/>
              <a:t>Agentic AI also brings context awareness, understanding user-provided details such as symptoms, duration, severity, and associated conditions to generate relevant recommendations. It supports real-time adaptation by processing new information provided by the user during interaction.</a:t>
            </a:r>
          </a:p>
          <a:p>
            <a:pPr algn="just"/>
            <a:endParaRPr lang="en-US" dirty="0"/>
          </a:p>
          <a:p>
            <a:pPr algn="just"/>
            <a:r>
              <a:rPr lang="en-US" dirty="0"/>
              <a:t>Additionally, agents communicate with each other, enabling better decision-making and improved outcomes.</a:t>
            </a:r>
          </a:p>
          <a:p>
            <a:pPr algn="just"/>
            <a:endParaRPr lang="en-US" dirty="0"/>
          </a:p>
          <a:p>
            <a:pPr algn="just"/>
            <a:r>
              <a:rPr lang="en-US" dirty="0"/>
              <a:t>Overall, Agentic AI makes the system proactive, context-aware, and goal-driven, acting like an intelligent health information assistant that helps users make informed healthcare decisions.</a:t>
            </a:r>
          </a:p>
        </p:txBody>
      </p:sp>
    </p:spTree>
    <p:extLst>
      <p:ext uri="{BB962C8B-B14F-4D97-AF65-F5344CB8AC3E}">
        <p14:creationId xmlns:p14="http://schemas.microsoft.com/office/powerpoint/2010/main" val="40006969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11,761 token are used</a:t>
            </a:r>
          </a:p>
        </p:txBody>
      </p:sp>
      <p:pic>
        <p:nvPicPr>
          <p:cNvPr id="3" name="Picture 2">
            <a:extLst>
              <a:ext uri="{FF2B5EF4-FFF2-40B4-BE49-F238E27FC236}">
                <a16:creationId xmlns:a16="http://schemas.microsoft.com/office/drawing/2014/main" id="{02764E07-B635-D0D4-E15E-04FC32A35BF4}"/>
              </a:ext>
            </a:extLst>
          </p:cNvPr>
          <p:cNvPicPr>
            <a:picLocks noChangeAspect="1"/>
          </p:cNvPicPr>
          <p:nvPr/>
        </p:nvPicPr>
        <p:blipFill>
          <a:blip r:embed="rId3"/>
          <a:stretch>
            <a:fillRect/>
          </a:stretch>
        </p:blipFill>
        <p:spPr>
          <a:xfrm>
            <a:off x="599767" y="1042133"/>
            <a:ext cx="10830050" cy="5234402"/>
          </a:xfrm>
          <a:prstGeom prst="rect">
            <a:avLst/>
          </a:prstGeom>
        </p:spPr>
      </p:pic>
    </p:spTree>
    <p:extLst>
      <p:ext uri="{BB962C8B-B14F-4D97-AF65-F5344CB8AC3E}">
        <p14:creationId xmlns:p14="http://schemas.microsoft.com/office/powerpoint/2010/main" val="893417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46BDB3C0-B0E9-3C3A-A974-6BF43591F3FC}"/>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8CB1AEC3-7C17-0CCE-61FA-643373D6AE2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CCA977A3-5FA0-8FF5-E1D1-86C9ED67651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6AC671B7-373D-A87D-0209-09BFC1855B7A}"/>
              </a:ext>
            </a:extLst>
          </p:cNvPr>
          <p:cNvPicPr>
            <a:picLocks noChangeAspect="1"/>
          </p:cNvPicPr>
          <p:nvPr/>
        </p:nvPicPr>
        <p:blipFill>
          <a:blip r:embed="rId3"/>
          <a:stretch>
            <a:fillRect/>
          </a:stretch>
        </p:blipFill>
        <p:spPr>
          <a:xfrm>
            <a:off x="501445" y="695673"/>
            <a:ext cx="11415252" cy="5736664"/>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E6E4A7DC-3E1D-42C4-3256-8A3109D5036E}"/>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1EC4E285-5561-2096-3270-252023A42F4B}"/>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A8B1B6D-C213-0DFE-C434-B14C5F9945F5}"/>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692D13D-6B69-03D8-BA22-587B943A2572}"/>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4" name="Picture 3">
            <a:extLst>
              <a:ext uri="{FF2B5EF4-FFF2-40B4-BE49-F238E27FC236}">
                <a16:creationId xmlns:a16="http://schemas.microsoft.com/office/drawing/2014/main" id="{1F38EA4C-4403-EB02-15D7-53DF36E30021}"/>
              </a:ext>
            </a:extLst>
          </p:cNvPr>
          <p:cNvPicPr>
            <a:picLocks noChangeAspect="1"/>
          </p:cNvPicPr>
          <p:nvPr/>
        </p:nvPicPr>
        <p:blipFill>
          <a:blip r:embed="rId3"/>
          <a:stretch>
            <a:fillRect/>
          </a:stretch>
        </p:blipFill>
        <p:spPr>
          <a:xfrm>
            <a:off x="491613" y="967898"/>
            <a:ext cx="11026942" cy="5118271"/>
          </a:xfrm>
          <a:prstGeom prst="rect">
            <a:avLst/>
          </a:prstGeom>
        </p:spPr>
      </p:pic>
      <p:sp>
        <p:nvSpPr>
          <p:cNvPr id="6" name="Rectangle 5">
            <a:extLst>
              <a:ext uri="{FF2B5EF4-FFF2-40B4-BE49-F238E27FC236}">
                <a16:creationId xmlns:a16="http://schemas.microsoft.com/office/drawing/2014/main" id="{7CE17DAA-1786-2A58-133E-997E6EB6B6F4}"/>
              </a:ext>
            </a:extLst>
          </p:cNvPr>
          <p:cNvSpPr/>
          <p:nvPr/>
        </p:nvSpPr>
        <p:spPr>
          <a:xfrm>
            <a:off x="2467897" y="2772697"/>
            <a:ext cx="1966451" cy="31831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850923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 Project Output Screenshot</a:t>
            </a:r>
            <a:endParaRPr sz="2400" b="1">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a:solidFill>
                  <a:srgbClr val="FF0000"/>
                </a:solidFill>
              </a:rPr>
              <a:t>Please put IBM Bob output screenshots with 2-3 prompts. </a:t>
            </a:r>
          </a:p>
          <a:p>
            <a:r>
              <a:rPr lang="en-US" sz="2000">
                <a:solidFill>
                  <a:srgbClr val="FF0000"/>
                </a:solidFill>
              </a:rPr>
              <a:t>You can take 2-3 more slides for each screenshot</a:t>
            </a:r>
            <a:endParaRPr lang="en-IN" sz="2000">
              <a:solidFill>
                <a:srgbClr val="FF0000"/>
              </a:solidFill>
            </a:endParaRPr>
          </a:p>
        </p:txBody>
      </p:sp>
      <p:pic>
        <p:nvPicPr>
          <p:cNvPr id="5" name="Picture 4">
            <a:extLst>
              <a:ext uri="{FF2B5EF4-FFF2-40B4-BE49-F238E27FC236}">
                <a16:creationId xmlns:a16="http://schemas.microsoft.com/office/drawing/2014/main" id="{36A6B940-BE80-F47A-8A49-15E577E2AD84}"/>
              </a:ext>
            </a:extLst>
          </p:cNvPr>
          <p:cNvPicPr>
            <a:picLocks noChangeAspect="1"/>
          </p:cNvPicPr>
          <p:nvPr/>
        </p:nvPicPr>
        <p:blipFill>
          <a:blip r:embed="rId3"/>
          <a:stretch>
            <a:fillRect/>
          </a:stretch>
        </p:blipFill>
        <p:spPr>
          <a:xfrm>
            <a:off x="791830" y="1149960"/>
            <a:ext cx="10181446" cy="4988522"/>
          </a:xfrm>
          <a:prstGeom prst="rect">
            <a:avLst/>
          </a:prstGeom>
        </p:spPr>
      </p:pic>
      <p:sp>
        <p:nvSpPr>
          <p:cNvPr id="6" name="Rectangle 5">
            <a:extLst>
              <a:ext uri="{FF2B5EF4-FFF2-40B4-BE49-F238E27FC236}">
                <a16:creationId xmlns:a16="http://schemas.microsoft.com/office/drawing/2014/main" id="{C36A5A81-2D35-0D3F-67A3-89892C34B1E0}"/>
              </a:ext>
            </a:extLst>
          </p:cNvPr>
          <p:cNvSpPr/>
          <p:nvPr/>
        </p:nvSpPr>
        <p:spPr>
          <a:xfrm>
            <a:off x="6213987" y="3125007"/>
            <a:ext cx="3490452" cy="2862838"/>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019071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109960" cy="4524315"/>
          </a:xfrm>
          <a:prstGeom prst="rect">
            <a:avLst/>
          </a:prstGeom>
          <a:noFill/>
        </p:spPr>
        <p:txBody>
          <a:bodyPr wrap="square" rtlCol="0">
            <a:spAutoFit/>
          </a:bodyPr>
          <a:lstStyle/>
          <a:p>
            <a:r>
              <a:rPr lang="en-US" sz="1800" dirty="0"/>
              <a:t>The proposed </a:t>
            </a:r>
            <a:r>
              <a:rPr lang="en-US" sz="1800" b="1" dirty="0"/>
              <a:t>Health Symptom Checker</a:t>
            </a:r>
            <a:r>
              <a:rPr lang="en-US" sz="1800" dirty="0"/>
              <a:t> stands out by combining Agentic AI, RAG, medical knowledge retrieval, risk assessment, and personalized guidance into a single intelligent system.</a:t>
            </a:r>
          </a:p>
          <a:p>
            <a:r>
              <a:rPr lang="en-US" sz="1800" b="1" dirty="0"/>
              <a:t>Multi-Agent Intelligence</a:t>
            </a:r>
            <a:r>
              <a:rPr lang="en-US" sz="1800" dirty="0"/>
              <a:t> – Instead of a single chatbot, multiple specialized agents collaborate to deliver accurate and context-aware health guidance.</a:t>
            </a:r>
          </a:p>
          <a:p>
            <a:r>
              <a:rPr lang="en-US" sz="1800" b="1" dirty="0"/>
              <a:t>RAG-Based Accuracy</a:t>
            </a:r>
            <a:r>
              <a:rPr lang="en-US" sz="1800" dirty="0"/>
              <a:t> – Integrates medical information retrieval with AI generation, reducing misinformation and improving response reliability.</a:t>
            </a:r>
          </a:p>
          <a:p>
            <a:r>
              <a:rPr lang="en-US" sz="1800" b="1" dirty="0"/>
              <a:t>Natural Language Interaction</a:t>
            </a:r>
            <a:r>
              <a:rPr lang="en-US" sz="1800" dirty="0"/>
              <a:t> – Allows users to describe symptoms naturally instead of following a fixed symptom-selection process.</a:t>
            </a:r>
          </a:p>
          <a:p>
            <a:r>
              <a:rPr lang="en-US" sz="1800" b="1" dirty="0"/>
              <a:t>Risk-Based Triage</a:t>
            </a:r>
            <a:r>
              <a:rPr lang="en-US" sz="1800" dirty="0"/>
              <a:t> – Identifies warning signs and recommends appropriate levels of medical attention.</a:t>
            </a:r>
          </a:p>
          <a:p>
            <a:r>
              <a:rPr lang="en-US" sz="1800" b="1" dirty="0"/>
              <a:t>Safety-Focused Guidance</a:t>
            </a:r>
            <a:r>
              <a:rPr lang="en-US" sz="1800" dirty="0"/>
              <a:t> – Provides educational and referral-based suggestions rather than claiming a definitive diagnosis.</a:t>
            </a:r>
          </a:p>
          <a:p>
            <a:r>
              <a:rPr lang="en-US" sz="1800" b="1" dirty="0"/>
              <a:t>Multi-Language Support</a:t>
            </a:r>
            <a:r>
              <a:rPr lang="en-US" sz="1800" dirty="0"/>
              <a:t> – Supports multiple languages to improve accessibility and usability.</a:t>
            </a:r>
          </a:p>
          <a:p>
            <a:r>
              <a:rPr lang="en-US" sz="1800" b="1" dirty="0"/>
              <a:t>Scalable &amp; Enterprise-Ready</a:t>
            </a:r>
            <a:r>
              <a:rPr lang="en-US" sz="1800" dirty="0"/>
              <a:t> – Built on IBM watsonx.ai with IBM Granite models, ensuring reliable deployment and AI governance.</a:t>
            </a:r>
          </a:p>
          <a:p>
            <a:r>
              <a:rPr lang="en-US" sz="1800" dirty="0"/>
              <a:t>This makes the solution an intelligent, adaptive, and safety-focused health information assistant, not just a static symptom-search tool.</a:t>
            </a:r>
          </a:p>
        </p:txBody>
      </p:sp>
    </p:spTree>
    <p:extLst>
      <p:ext uri="{BB962C8B-B14F-4D97-AF65-F5344CB8AC3E}">
        <p14:creationId xmlns:p14="http://schemas.microsoft.com/office/powerpoint/2010/main" val="23252822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Link: https://github.com/Gunathangam/Health-Symptom-Checker</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40404122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r>
              <a:rPr lang="en-US" sz="2000" b="1" dirty="0"/>
              <a:t>1. Personalized Health Profile &amp; Longitudinal Health Tracking –</a:t>
            </a:r>
            <a:br>
              <a:rPr lang="en-US" sz="2000" dirty="0"/>
            </a:br>
            <a:r>
              <a:rPr lang="en-US" sz="2000" dirty="0"/>
              <a:t>The system can maintain an optional user health profile containing previous symptoms, allergies, medications, existing conditions, and past interactions. By analyzing symptom patterns over time, the agents can identify recurring issues, track changes, and provide more personalized health guidance while keeping the user in control of their data.</a:t>
            </a:r>
          </a:p>
          <a:p>
            <a:endParaRPr lang="en-US" sz="2000" dirty="0"/>
          </a:p>
          <a:p>
            <a:r>
              <a:rPr lang="en-US" sz="2000" b="1" dirty="0"/>
              <a:t>2. Multimodal Symptom Assessment –</a:t>
            </a:r>
            <a:br>
              <a:rPr lang="en-US" sz="2000" dirty="0"/>
            </a:br>
            <a:r>
              <a:rPr lang="en-US" sz="2000" dirty="0"/>
              <a:t>The system can be extended to accept </a:t>
            </a:r>
            <a:r>
              <a:rPr lang="en-US" sz="2000" b="1" dirty="0"/>
              <a:t>voice descriptions, medical images, and health-device readings</a:t>
            </a:r>
            <a:r>
              <a:rPr lang="en-US" sz="2000" dirty="0"/>
              <a:t> in addition to text. A multimodal agent could analyze inputs such as skin-related images, temperature readings, heart rate, or SpO₂ data and combine them with reported symptoms to provide more comprehensive risk assessment and referral recommendations.</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7400284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10" name="Picture 9">
            <a:extLst>
              <a:ext uri="{FF2B5EF4-FFF2-40B4-BE49-F238E27FC236}">
                <a16:creationId xmlns:a16="http://schemas.microsoft.com/office/drawing/2014/main" id="{80121EE5-E2F1-64CE-CB49-DA4FA9B23405}"/>
              </a:ext>
            </a:extLst>
          </p:cNvPr>
          <p:cNvPicPr>
            <a:picLocks noChangeAspect="1"/>
          </p:cNvPicPr>
          <p:nvPr/>
        </p:nvPicPr>
        <p:blipFill>
          <a:blip r:embed="rId2"/>
          <a:stretch>
            <a:fillRect/>
          </a:stretch>
        </p:blipFill>
        <p:spPr>
          <a:xfrm>
            <a:off x="1814423" y="1367169"/>
            <a:ext cx="8563154" cy="5211512"/>
          </a:xfrm>
          <a:prstGeom prst="rect">
            <a:avLst/>
          </a:prstGeom>
        </p:spPr>
      </p:pic>
    </p:spTree>
    <p:extLst>
      <p:ext uri="{BB962C8B-B14F-4D97-AF65-F5344CB8AC3E}">
        <p14:creationId xmlns:p14="http://schemas.microsoft.com/office/powerpoint/2010/main" val="28334827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8" name="Picture 7">
            <a:extLst>
              <a:ext uri="{FF2B5EF4-FFF2-40B4-BE49-F238E27FC236}">
                <a16:creationId xmlns:a16="http://schemas.microsoft.com/office/drawing/2014/main" id="{DDD7C5E8-2616-FF8F-BF6C-0283A5495B2D}"/>
              </a:ext>
            </a:extLst>
          </p:cNvPr>
          <p:cNvPicPr>
            <a:picLocks noChangeAspect="1"/>
          </p:cNvPicPr>
          <p:nvPr/>
        </p:nvPicPr>
        <p:blipFill>
          <a:blip r:embed="rId2"/>
          <a:stretch>
            <a:fillRect/>
          </a:stretch>
        </p:blipFill>
        <p:spPr>
          <a:xfrm>
            <a:off x="2006451" y="1315346"/>
            <a:ext cx="8553394" cy="5322400"/>
          </a:xfrm>
          <a:prstGeom prst="rect">
            <a:avLst/>
          </a:prstGeom>
        </p:spPr>
      </p:pic>
    </p:spTree>
    <p:extLst>
      <p:ext uri="{BB962C8B-B14F-4D97-AF65-F5344CB8AC3E}">
        <p14:creationId xmlns:p14="http://schemas.microsoft.com/office/powerpoint/2010/main" val="41751777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extLst>
      <p:ext uri="{BB962C8B-B14F-4D97-AF65-F5344CB8AC3E}">
        <p14:creationId xmlns:p14="http://schemas.microsoft.com/office/powerpoint/2010/main" val="144013734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80</TotalTime>
  <Words>1315</Words>
  <Application>Microsoft Office PowerPoint</Application>
  <PresentationFormat>Widescreen</PresentationFormat>
  <Paragraphs>114</Paragraphs>
  <Slides>19</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MUGESH KANNAN</cp:lastModifiedBy>
  <cp:revision>4</cp:revision>
  <dcterms:created xsi:type="dcterms:W3CDTF">2025-07-08T05:06:56Z</dcterms:created>
  <dcterms:modified xsi:type="dcterms:W3CDTF">2026-09-11T14:32:54Z</dcterms:modified>
</cp:coreProperties>
</file>